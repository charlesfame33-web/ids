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1463040"/>
            <a:ext cx="128016" cy="310896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3716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444444"/>
                </a:solidFill>
                <a:latin typeface="Segoe UI"/>
              </a:rPr>
              <a:t>BSC PROJECT DEFENCE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828800"/>
            <a:ext cx="1060704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000000"/>
                </a:solidFill>
                <a:latin typeface="Segoe UI"/>
              </a:rPr>
              <a:t>AI-Driven Agricultural Supply Chain &amp; Produce Scheduling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4297680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000000"/>
                </a:solidFill>
                <a:latin typeface="Segoe UI"/>
              </a:rPr>
              <a:t>Presented by Obayomi Samuel Oluwagbotemi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333333"/>
                </a:solidFill>
                <a:latin typeface="Segoe UI"/>
              </a:rPr>
              <a:t>Matric No: CSC/22/124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333333"/>
                </a:solidFill>
                <a:latin typeface="Segoe UI"/>
              </a:rPr>
              <a:t>Supervisor: 'Dr. Adeolu Obamehinti'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333333"/>
                </a:solidFill>
                <a:latin typeface="Segoe UI"/>
              </a:rPr>
              <a:t>Dept. of Computer Science — OAUSTECH, Okitipupa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44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00000"/>
                </a:solidFill>
                <a:latin typeface="Segoe UI"/>
              </a:rPr>
              <a:t>SLIDE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00000"/>
                </a:solidFill>
                <a:latin typeface="Segoe UI"/>
              </a:rPr>
              <a:t>Introduction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1463040" cy="635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000000"/>
                </a:solidFill>
                <a:latin typeface="Segoe UI"/>
              </a:rPr>
              <a:t>▸  Agricultural supply chains for fresh produce suffer significant post-harvest losses due to poor coordination, inefficient logistics, and lack of visibility.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000000"/>
                </a:solidFill>
                <a:latin typeface="Segoe UI"/>
              </a:rPr>
              <a:t>▸  Farmers, buyers, transporters, and warehouse managers often operate in isolation, relying on manual and informal processes.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000000"/>
                </a:solidFill>
                <a:latin typeface="Segoe UI"/>
              </a:rPr>
              <a:t>▸  Web-based platforms and data-driven techniques can improve coordination and reduce waste (Pressman &amp; Maxim, 2020).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000000"/>
                </a:solidFill>
                <a:latin typeface="Segoe UI"/>
              </a:rPr>
              <a:t>▸  AgriFlow AI is an intelligent web platform that unifies supply chain participants and applies deterministic decision rules to improve efficiency.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000000"/>
                </a:solidFill>
                <a:latin typeface="Segoe UI"/>
              </a:rPr>
              <a:t>▸  The system integrates a marketplace, perishable-first scheduling, demand forecasting, spoilage tracking, and an AI assistant grounded in live data.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00000"/>
                </a:solidFill>
                <a:latin typeface="Segoe UI"/>
              </a:rPr>
              <a:t>SLIDE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00000"/>
                </a:solidFill>
                <a:latin typeface="Segoe UI"/>
              </a:rPr>
              <a:t>Motivation / Statement of the Problem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1463040" cy="635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000000"/>
                </a:solidFill>
                <a:latin typeface="Segoe UI"/>
              </a:rPr>
              <a:t>▸  A substantial proportion of fresh produce is lost between harvest and consumption due to poor logistics and weak coordination.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000000"/>
                </a:solidFill>
                <a:latin typeface="Segoe UI"/>
              </a:rPr>
              <a:t>▸  Deliveries are frequently scheduled without regard to perishability; the most time-critical produce is not prioritised.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000000"/>
                </a:solidFill>
                <a:latin typeface="Segoe UI"/>
              </a:rPr>
              <a:t>▸  Demand is rarely anticipated systematically, causing both shortages and surpluses that increase waste.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000000"/>
                </a:solidFill>
                <a:latin typeface="Segoe UI"/>
              </a:rPr>
              <a:t>▸  Operational data is often complex and difficult for non-experts to interpret, limiting its usefulness for decision-making.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000000"/>
                </a:solidFill>
                <a:latin typeface="Segoe UI"/>
              </a:rPr>
              <a:t>▸  These challenges motivated the development of AgriFlow AI as an integrated, intelligent, and practical platform for produce supply chain management.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00000"/>
                </a:solidFill>
                <a:latin typeface="Segoe UI"/>
              </a:rPr>
              <a:t>SLIDE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00000"/>
                </a:solidFill>
                <a:latin typeface="Segoe UI"/>
              </a:rPr>
              <a:t>Aim and Objectives of the Study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1463040" cy="635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737360"/>
            <a:ext cx="5257800" cy="4480560"/>
          </a:xfrm>
          <a:prstGeom prst="rect">
            <a:avLst/>
          </a:prstGeom>
          <a:solidFill>
            <a:srgbClr val="F4F4F4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17920" y="1737360"/>
            <a:ext cx="5257800" cy="4480560"/>
          </a:xfrm>
          <a:prstGeom prst="rect">
            <a:avLst/>
          </a:prstGeom>
          <a:solidFill>
            <a:srgbClr val="F4F4F4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000000"/>
                </a:solidFill>
                <a:latin typeface="Segoe UI"/>
              </a:rPr>
              <a:t>Aim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514600"/>
            <a:ext cx="484632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500">
                <a:solidFill>
                  <a:srgbClr val="000000"/>
                </a:solidFill>
                <a:latin typeface="Segoe UI"/>
              </a:rPr>
              <a:t>▸  To design and implement an intelligent web-based agricultural supply chain platform that unifies participants and applies data-driven decision rules to improve efficiency and reduce post-harvest losses.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520" y="1920240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444444"/>
                </a:solidFill>
                <a:latin typeface="Segoe UI"/>
              </a:rPr>
              <a:t>Objectives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2514600"/>
            <a:ext cx="484632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500">
                <a:solidFill>
                  <a:srgbClr val="000000"/>
                </a:solidFill>
                <a:latin typeface="Segoe UI"/>
              </a:rPr>
              <a:t>▸  Design a role-based platform for 5 user types</a:t>
            </a:r>
          </a:p>
          <a:p>
            <a:pPr>
              <a:spcAft>
                <a:spcPts val="700"/>
              </a:spcAft>
            </a:pPr>
            <a:r>
              <a:rPr sz="1500">
                <a:solidFill>
                  <a:srgbClr val="000000"/>
                </a:solidFill>
                <a:latin typeface="Segoe UI"/>
              </a:rPr>
              <a:t>▸  Implement a produce marketplace with order management</a:t>
            </a:r>
          </a:p>
          <a:p>
            <a:pPr>
              <a:spcAft>
                <a:spcPts val="700"/>
              </a:spcAft>
            </a:pPr>
            <a:r>
              <a:rPr sz="1500">
                <a:solidFill>
                  <a:srgbClr val="000000"/>
                </a:solidFill>
                <a:latin typeface="Segoe UI"/>
              </a:rPr>
              <a:t>▸  Develop a deterministic perishable-first scheduling engine</a:t>
            </a:r>
          </a:p>
          <a:p>
            <a:pPr>
              <a:spcAft>
                <a:spcPts val="700"/>
              </a:spcAft>
            </a:pPr>
            <a:r>
              <a:rPr sz="1500">
                <a:solidFill>
                  <a:srgbClr val="000000"/>
                </a:solidFill>
                <a:latin typeface="Segoe UI"/>
              </a:rPr>
              <a:t>▸  Implement demand forecasting and shelf-life spoilage tracking</a:t>
            </a:r>
          </a:p>
          <a:p>
            <a:pPr>
              <a:spcAft>
                <a:spcPts val="700"/>
              </a:spcAft>
            </a:pPr>
            <a:r>
              <a:rPr sz="1500">
                <a:solidFill>
                  <a:srgbClr val="000000"/>
                </a:solidFill>
                <a:latin typeface="Segoe UI"/>
              </a:rPr>
              <a:t>▸  Integrate an AI assistant grounded in live operational data</a:t>
            </a:r>
          </a:p>
          <a:p>
            <a:pPr>
              <a:spcAft>
                <a:spcPts val="700"/>
              </a:spcAft>
            </a:pPr>
            <a:r>
              <a:rPr sz="1500">
                <a:solidFill>
                  <a:srgbClr val="000000"/>
                </a:solidFill>
                <a:latin typeface="Segoe UI"/>
              </a:rPr>
              <a:t>▸  Evaluate functionality and reliability through testing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00000"/>
                </a:solidFill>
                <a:latin typeface="Segoe UI"/>
              </a:rPr>
              <a:t>SLIDE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00000"/>
                </a:solidFill>
                <a:latin typeface="Segoe UI"/>
              </a:rPr>
              <a:t>Significance of the Study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1463040" cy="635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000000"/>
                </a:solidFill>
                <a:latin typeface="Segoe UI"/>
              </a:rPr>
              <a:t>▸  Economic Impact: Reduces post-harvest losses through perishable-first scheduling and spoilage tracking, improving incomes and lowering costs.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000000"/>
                </a:solidFill>
                <a:latin typeface="Segoe UI"/>
              </a:rPr>
              <a:t>▸  Social Impact: Strengthens coordination among supply chain participants and contributes to food security by reducing food waste.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000000"/>
                </a:solidFill>
                <a:latin typeface="Segoe UI"/>
              </a:rPr>
              <a:t>▸  Technological Impact: Demonstrates integration of web technologies, deterministic optimisation, and grounded AI for agricultural challenges.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000000"/>
                </a:solidFill>
                <a:latin typeface="Segoe UI"/>
              </a:rPr>
              <a:t>▸  Practical Impact: Provides a working model for combining reliable rule-based logic with accessible natural-language explanations for non-expert users.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00000"/>
                </a:solidFill>
                <a:latin typeface="Segoe UI"/>
              </a:rPr>
              <a:t>SLIDE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00000"/>
                </a:solidFill>
                <a:latin typeface="Segoe UI"/>
              </a:rPr>
              <a:t>Literature Review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1463040" cy="635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000000"/>
                </a:solidFill>
                <a:latin typeface="Segoe UI"/>
              </a:rPr>
              <a:t>▸  Post-harvest loss is a central concern in agricultural supply chains; effective management minimises losses through improved coordination (Christopher, 2016).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000000"/>
                </a:solidFill>
                <a:latin typeface="Segoe UI"/>
              </a:rPr>
              <a:t>▸  Electronic marketplaces improve access but do not solve logistical challenges; integrated platforms deliver greater value (Sommerville, 2016).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000000"/>
                </a:solidFill>
                <a:latin typeface="Segoe UI"/>
              </a:rPr>
              <a:t>▸  Deterministic rules such as perishable-first scheduling, moving averages, and haversine distance give reliable, explainable decisions.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000000"/>
                </a:solidFill>
                <a:latin typeface="Segoe UI"/>
              </a:rPr>
              <a:t>▸  AI must be grounded in verified data to avoid fabrication; it should explain rather than decide (Russell &amp; Norvig, 2021).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000000"/>
                </a:solidFill>
                <a:latin typeface="Segoe UI"/>
              </a:rPr>
              <a:t>▸  Gap: Few systems integrate marketplace, perishability-aware logistics, forecasting, and grounded AI assistance in one platform.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00000"/>
                </a:solidFill>
                <a:latin typeface="Segoe UI"/>
              </a:rPr>
              <a:t>SLIDE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00000"/>
                </a:solidFill>
                <a:latin typeface="Segoe UI"/>
              </a:rPr>
              <a:t>Methodology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1463040" cy="635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783080"/>
            <a:ext cx="3444240" cy="2103120"/>
          </a:xfrm>
          <a:prstGeom prst="rect">
            <a:avLst/>
          </a:prstGeom>
          <a:solidFill>
            <a:srgbClr val="F4F4F4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783080"/>
            <a:ext cx="63500" cy="21031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47672"/>
            <a:ext cx="2987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00000"/>
                </a:solidFill>
                <a:latin typeface="Segoe UI"/>
              </a:rPr>
              <a:t>Approach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468880"/>
            <a:ext cx="29870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333333"/>
                </a:solidFill>
                <a:latin typeface="Segoe UI"/>
              </a:rPr>
              <a:t>Agile SDLC with automated end-to-end testing across all roles.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4404360" y="1783080"/>
            <a:ext cx="3444240" cy="2103120"/>
          </a:xfrm>
          <a:prstGeom prst="rect">
            <a:avLst/>
          </a:prstGeom>
          <a:solidFill>
            <a:srgbClr val="F4F4F4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404360" y="1783080"/>
            <a:ext cx="63500" cy="2103120"/>
          </a:xfrm>
          <a:prstGeom prst="rect">
            <a:avLst/>
          </a:prstGeom>
          <a:solidFill>
            <a:srgbClr val="44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32960" y="1947672"/>
            <a:ext cx="2987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00000"/>
                </a:solidFill>
                <a:latin typeface="Segoe UI"/>
              </a:rPr>
              <a:t>Architecture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32960" y="2468880"/>
            <a:ext cx="29870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333333"/>
                </a:solidFill>
                <a:latin typeface="Segoe UI"/>
              </a:rPr>
              <a:t>Serverless: Next.js server components + cloud database.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22920" y="1783080"/>
            <a:ext cx="3444240" cy="2103120"/>
          </a:xfrm>
          <a:prstGeom prst="rect">
            <a:avLst/>
          </a:prstGeom>
          <a:solidFill>
            <a:srgbClr val="F4F4F4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22920" y="1783080"/>
            <a:ext cx="63500" cy="21031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51520" y="1947672"/>
            <a:ext cx="2987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00000"/>
                </a:solidFill>
                <a:latin typeface="Segoe UI"/>
              </a:rPr>
              <a:t>Stack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51520" y="2468880"/>
            <a:ext cx="29870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333333"/>
                </a:solidFill>
                <a:latin typeface="Segoe UI"/>
              </a:rPr>
              <a:t>Next.js 14, TypeScript, Tailwind; Supabase PostgreSQL + RLS.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" y="4160520"/>
            <a:ext cx="3444240" cy="2103120"/>
          </a:xfrm>
          <a:prstGeom prst="rect">
            <a:avLst/>
          </a:prstGeom>
          <a:solidFill>
            <a:srgbClr val="F4F4F4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85800" y="4160520"/>
            <a:ext cx="63500" cy="2103120"/>
          </a:xfrm>
          <a:prstGeom prst="rect">
            <a:avLst/>
          </a:prstGeom>
          <a:solidFill>
            <a:srgbClr val="44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4325112"/>
            <a:ext cx="2987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00000"/>
                </a:solidFill>
                <a:latin typeface="Segoe UI"/>
              </a:rPr>
              <a:t>Scheduling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4846320"/>
            <a:ext cx="29870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333333"/>
                </a:solidFill>
                <a:latin typeface="Segoe UI"/>
              </a:rPr>
              <a:t>Perishable-first; nearest warehouse; least-busy transporter.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404360" y="4160520"/>
            <a:ext cx="3444240" cy="2103120"/>
          </a:xfrm>
          <a:prstGeom prst="rect">
            <a:avLst/>
          </a:prstGeom>
          <a:solidFill>
            <a:srgbClr val="F4F4F4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404360" y="4160520"/>
            <a:ext cx="63500" cy="21031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32960" y="4325112"/>
            <a:ext cx="2987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00000"/>
                </a:solidFill>
                <a:latin typeface="Segoe UI"/>
              </a:rPr>
              <a:t>Forecasting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32960" y="4846320"/>
            <a:ext cx="29870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333333"/>
                </a:solidFill>
                <a:latin typeface="Segoe UI"/>
              </a:rPr>
              <a:t>Simple &amp; weighted moving averages over 8 weeks.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22920" y="4160520"/>
            <a:ext cx="3444240" cy="2103120"/>
          </a:xfrm>
          <a:prstGeom prst="rect">
            <a:avLst/>
          </a:prstGeom>
          <a:solidFill>
            <a:srgbClr val="F4F4F4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122920" y="4160520"/>
            <a:ext cx="63500" cy="2103120"/>
          </a:xfrm>
          <a:prstGeom prst="rect">
            <a:avLst/>
          </a:prstGeom>
          <a:solidFill>
            <a:srgbClr val="44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51520" y="4325112"/>
            <a:ext cx="2987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00000"/>
                </a:solidFill>
                <a:latin typeface="Segoe UI"/>
              </a:rPr>
              <a:t>AI Assistant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51520" y="4846320"/>
            <a:ext cx="29870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333333"/>
                </a:solidFill>
                <a:latin typeface="Segoe UI"/>
              </a:rPr>
              <a:t>Google Gemini — explains live data only; all decisions are deterministic.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00000"/>
                </a:solidFill>
                <a:latin typeface="Segoe UI"/>
              </a:rPr>
              <a:t>SLIDE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00000"/>
                </a:solidFill>
                <a:latin typeface="Segoe UI"/>
              </a:rPr>
              <a:t>Implementation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1463040" cy="635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783080"/>
            <a:ext cx="5257800" cy="4434840"/>
          </a:xfrm>
          <a:prstGeom prst="rect">
            <a:avLst/>
          </a:prstGeom>
          <a:solidFill>
            <a:srgbClr val="F4F4F4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4709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00000"/>
                </a:solidFill>
                <a:latin typeface="Segoe UI"/>
              </a:rPr>
              <a:t>Figure 1: Farmer &amp; Buyer Dashboards</a:t>
            </a:r>
          </a:p>
        </p:txBody>
      </p:sp>
      <p:pic>
        <p:nvPicPr>
          <p:cNvPr id="7" name="Picture 6" descr="dash-farm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2441448"/>
            <a:ext cx="4617720" cy="288607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60120" y="5852160"/>
            <a:ext cx="4709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50" b="0">
                <a:solidFill>
                  <a:srgbClr val="333333"/>
                </a:solidFill>
                <a:latin typeface="Segoe UI"/>
              </a:rPr>
              <a:t>Role-based dashboards for crop management, marketplace browsing, and orders.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783080"/>
            <a:ext cx="5257800" cy="4434840"/>
          </a:xfrm>
          <a:prstGeom prst="rect">
            <a:avLst/>
          </a:prstGeom>
          <a:solidFill>
            <a:srgbClr val="F4F4F4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965960"/>
            <a:ext cx="4709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00000"/>
                </a:solidFill>
                <a:latin typeface="Segoe UI"/>
              </a:rPr>
              <a:t>Figure 2: Scheduling &amp; AI Assistant</a:t>
            </a:r>
          </a:p>
        </p:txBody>
      </p:sp>
      <p:pic>
        <p:nvPicPr>
          <p:cNvPr id="11" name="Picture 10" descr="dash-adm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7960" y="2441448"/>
            <a:ext cx="4617720" cy="2886075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92240" y="5852160"/>
            <a:ext cx="4709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50" b="0">
                <a:solidFill>
                  <a:srgbClr val="333333"/>
                </a:solidFill>
                <a:latin typeface="Segoe UI"/>
              </a:rPr>
              <a:t>Perishable-first scheduling engine and AI assistant grounded in live data.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00000"/>
                </a:solidFill>
                <a:latin typeface="Segoe UI"/>
              </a:rPr>
              <a:t>SLIDE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00000"/>
                </a:solidFill>
                <a:latin typeface="Segoe UI"/>
              </a:rPr>
              <a:t>Results &amp; Discussion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1463040" cy="635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783080"/>
            <a:ext cx="5257800" cy="4434840"/>
          </a:xfrm>
          <a:prstGeom prst="rect">
            <a:avLst/>
          </a:prstGeom>
          <a:solidFill>
            <a:srgbClr val="F4F4F4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4709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00000"/>
                </a:solidFill>
                <a:latin typeface="Segoe UI"/>
              </a:rPr>
              <a:t>Figure 3: Warehouse Inventory</a:t>
            </a:r>
          </a:p>
        </p:txBody>
      </p:sp>
      <p:pic>
        <p:nvPicPr>
          <p:cNvPr id="7" name="Picture 6" descr="warehouse-inven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2441448"/>
            <a:ext cx="4617720" cy="288607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60120" y="5852160"/>
            <a:ext cx="4709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50" b="0">
                <a:solidFill>
                  <a:srgbClr val="333333"/>
                </a:solidFill>
                <a:latin typeface="Segoe UI"/>
              </a:rPr>
              <a:t>Inventory management with live shelf-life alerts and spoilage tracking.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783080"/>
            <a:ext cx="5257800" cy="4434840"/>
          </a:xfrm>
          <a:prstGeom prst="rect">
            <a:avLst/>
          </a:prstGeom>
          <a:solidFill>
            <a:srgbClr val="F4F4F4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965960"/>
            <a:ext cx="4709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00000"/>
                </a:solidFill>
                <a:latin typeface="Segoe UI"/>
              </a:rPr>
              <a:t>Figure 4: Transport &amp; Admin Views</a:t>
            </a:r>
          </a:p>
        </p:txBody>
      </p:sp>
      <p:pic>
        <p:nvPicPr>
          <p:cNvPr id="11" name="Picture 10" descr="dash-transpor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7960" y="2441448"/>
            <a:ext cx="4617720" cy="2886075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92240" y="5852160"/>
            <a:ext cx="4709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50" b="0">
                <a:solidFill>
                  <a:srgbClr val="333333"/>
                </a:solidFill>
                <a:latin typeface="Segoe UI"/>
              </a:rPr>
              <a:t>Delivery workflow, route map, and admin scheduling dashboard.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00000"/>
                </a:solidFill>
                <a:latin typeface="Segoe UI"/>
              </a:rPr>
              <a:t>SLIDE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00000"/>
                </a:solidFill>
                <a:latin typeface="Segoe UI"/>
              </a:rPr>
              <a:t>Contributions to Knowledge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1463040" cy="635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000000"/>
                </a:solidFill>
                <a:latin typeface="Segoe UI"/>
              </a:rPr>
              <a:t>▸  A unified, role-based platform integrating marketplace, logistics, inventory, and analytics for agricultural supply chain management.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000000"/>
                </a:solidFill>
                <a:latin typeface="Segoe UI"/>
              </a:rPr>
              <a:t>▸  A deterministic perishable-first scheduling engine that prioritises deliveries by remaining shelf life and optimises warehouse and transporter assignments.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000000"/>
                </a:solidFill>
                <a:latin typeface="Segoe UI"/>
              </a:rPr>
              <a:t>▸  Demand forecasting using simple and weighted moving averages, with trend indicators for accessible planning support.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000000"/>
                </a:solidFill>
                <a:latin typeface="Segoe UI"/>
              </a:rPr>
              <a:t>▸  Continuous shelf-life spoilage tracking that classifies stored items as fresh, expiring, or spoiled for proactive decision-making.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000000"/>
                </a:solidFill>
                <a:latin typeface="Segoe UI"/>
              </a:rPr>
              <a:t>▸  An AI assistant grounded in live operational data that provides natural-language explanations, making complex data accessible to all users.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00000"/>
                </a:solidFill>
                <a:latin typeface="Segoe UI"/>
              </a:rPr>
              <a:t>SLIDE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00000"/>
                </a:solidFill>
                <a:latin typeface="Segoe UI"/>
              </a:rPr>
              <a:t>Conclusion / References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1463040" cy="635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737360"/>
            <a:ext cx="5257800" cy="4480560"/>
          </a:xfrm>
          <a:prstGeom prst="rect">
            <a:avLst/>
          </a:prstGeom>
          <a:solidFill>
            <a:srgbClr val="F4F4F4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17920" y="1737360"/>
            <a:ext cx="5257800" cy="4480560"/>
          </a:xfrm>
          <a:prstGeom prst="rect">
            <a:avLst/>
          </a:prstGeom>
          <a:solidFill>
            <a:srgbClr val="F4F4F4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000000"/>
                </a:solidFill>
                <a:latin typeface="Segoe UI"/>
              </a:rPr>
              <a:t>Conclusion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514600"/>
            <a:ext cx="484632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500">
                <a:solidFill>
                  <a:srgbClr val="000000"/>
                </a:solidFill>
                <a:latin typeface="Segoe UI"/>
              </a:rPr>
              <a:t>▸  All objectives were achieved: a role-based platform for five user types, a marketplace with order management, a perishable-first scheduling engine, demand forecasting, spoilage tracking, and an explanatory AI assistant were implemented and tested.</a:t>
            </a:r>
          </a:p>
          <a:p>
            <a:pPr>
              <a:spcAft>
                <a:spcPts val="700"/>
              </a:spcAft>
            </a:pPr>
            <a:r>
              <a:rPr sz="1500">
                <a:solidFill>
                  <a:srgbClr val="000000"/>
                </a:solidFill>
                <a:latin typeface="Segoe UI"/>
              </a:rPr>
              <a:t>▸  The platform demonstrates that combining a unified digital system with deterministic optimisation and grounded AI improves supply chain efficiency.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520" y="1920240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444444"/>
                </a:solidFill>
                <a:latin typeface="Segoe UI"/>
              </a:rPr>
              <a:t>References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2514600"/>
            <a:ext cx="484632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500">
                <a:solidFill>
                  <a:srgbClr val="000000"/>
                </a:solidFill>
                <a:latin typeface="Segoe UI"/>
              </a:rPr>
              <a:t>▸  Christopher, M. (2016). Logistics and supply chain management (5th ed.). Pearson.</a:t>
            </a:r>
          </a:p>
          <a:p>
            <a:pPr>
              <a:spcAft>
                <a:spcPts val="700"/>
              </a:spcAft>
            </a:pPr>
            <a:r>
              <a:rPr sz="1500">
                <a:solidFill>
                  <a:srgbClr val="000000"/>
                </a:solidFill>
                <a:latin typeface="Segoe UI"/>
              </a:rPr>
              <a:t>▸  Elmasri, R. &amp; Navathe, S. B. (2017). Fundamentals of database systems (7th ed.). Pearson.</a:t>
            </a:r>
          </a:p>
          <a:p>
            <a:pPr>
              <a:spcAft>
                <a:spcPts val="700"/>
              </a:spcAft>
            </a:pPr>
            <a:r>
              <a:rPr sz="1500">
                <a:solidFill>
                  <a:srgbClr val="000000"/>
                </a:solidFill>
                <a:latin typeface="Segoe UI"/>
              </a:rPr>
              <a:t>▸  Google. (2024). Gemini API documentation. ai.google.dev</a:t>
            </a:r>
          </a:p>
          <a:p>
            <a:pPr>
              <a:spcAft>
                <a:spcPts val="700"/>
              </a:spcAft>
            </a:pPr>
            <a:r>
              <a:rPr sz="1500">
                <a:solidFill>
                  <a:srgbClr val="000000"/>
                </a:solidFill>
                <a:latin typeface="Segoe UI"/>
              </a:rPr>
              <a:t>▸  Pressman, R. S. &amp; Maxim, B. R. (2020). Software engineering (9th ed.). McGraw-Hill.</a:t>
            </a:r>
          </a:p>
          <a:p>
            <a:pPr>
              <a:spcAft>
                <a:spcPts val="700"/>
              </a:spcAft>
            </a:pPr>
            <a:r>
              <a:rPr sz="1500">
                <a:solidFill>
                  <a:srgbClr val="000000"/>
                </a:solidFill>
                <a:latin typeface="Segoe UI"/>
              </a:rPr>
              <a:t>▸  Russell, S. J. &amp; Norvig, P. (2021). Artificial intelligence: A modern approach (4th ed.). Pearson.</a:t>
            </a:r>
          </a:p>
          <a:p>
            <a:pPr>
              <a:spcAft>
                <a:spcPts val="700"/>
              </a:spcAft>
            </a:pPr>
            <a:r>
              <a:rPr sz="1500">
                <a:solidFill>
                  <a:srgbClr val="000000"/>
                </a:solidFill>
                <a:latin typeface="Segoe UI"/>
              </a:rPr>
              <a:t>▸  Sommerville, I. (2016). Software engineering (10th ed.). Pearson.</a:t>
            </a:r>
          </a:p>
          <a:p>
            <a:pPr>
              <a:spcAft>
                <a:spcPts val="700"/>
              </a:spcAft>
            </a:pPr>
            <a:r>
              <a:rPr sz="1500">
                <a:solidFill>
                  <a:srgbClr val="000000"/>
                </a:solidFill>
                <a:latin typeface="Segoe UI"/>
              </a:rPr>
              <a:t>▸  Supabase. (2024). Supabase documentation. supabase.com/docs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46888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4800" b="1">
                <a:solidFill>
                  <a:srgbClr val="000000"/>
                </a:solidFill>
                <a:latin typeface="Segoe UI"/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56616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1">
                <a:solidFill>
                  <a:srgbClr val="000000"/>
                </a:solidFill>
                <a:latin typeface="Segoe UI"/>
              </a:rPr>
              <a:t>Questions &amp; Demonstration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44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